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8" r:id="rId10"/>
    <p:sldId id="266" r:id="rId11"/>
    <p:sldId id="267" r:id="rId12"/>
    <p:sldId id="263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691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20BAC-B90F-48D4-893B-CD2337102F97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88D7E-C73C-4239-BD1B-11CAB11E68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057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88D7E-C73C-4239-BD1B-11CAB11E68C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803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599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152775"/>
            <a:ext cx="761999" cy="609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9525" y="3152775"/>
            <a:ext cx="752475" cy="6096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00174" y="2419350"/>
            <a:ext cx="9407525" cy="0"/>
          </a:xfrm>
          <a:custGeom>
            <a:avLst/>
            <a:gdLst/>
            <a:ahLst/>
            <a:cxnLst/>
            <a:rect l="l" t="t" r="r" b="b"/>
            <a:pathLst>
              <a:path w="9407525">
                <a:moveTo>
                  <a:pt x="0" y="0"/>
                </a:moveTo>
                <a:lnTo>
                  <a:pt x="9407271" y="0"/>
                </a:lnTo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599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152775"/>
            <a:ext cx="761999" cy="609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9525" y="3152775"/>
            <a:ext cx="752475" cy="6096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00174" y="2419350"/>
            <a:ext cx="9407525" cy="0"/>
          </a:xfrm>
          <a:custGeom>
            <a:avLst/>
            <a:gdLst/>
            <a:ahLst/>
            <a:cxnLst/>
            <a:rect l="l" t="t" r="r" b="b"/>
            <a:pathLst>
              <a:path w="9407525">
                <a:moveTo>
                  <a:pt x="0" y="0"/>
                </a:moveTo>
                <a:lnTo>
                  <a:pt x="9407271" y="0"/>
                </a:lnTo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600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152775"/>
            <a:ext cx="761999" cy="609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9525" y="3152775"/>
            <a:ext cx="752475" cy="609600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400175" y="2419350"/>
            <a:ext cx="9407525" cy="0"/>
          </a:xfrm>
          <a:custGeom>
            <a:avLst/>
            <a:gdLst/>
            <a:ahLst/>
            <a:cxnLst/>
            <a:rect l="l" t="t" r="r" b="b"/>
            <a:pathLst>
              <a:path w="9407525">
                <a:moveTo>
                  <a:pt x="0" y="0"/>
                </a:moveTo>
                <a:lnTo>
                  <a:pt x="1076325" y="0"/>
                </a:lnTo>
              </a:path>
              <a:path w="9407525">
                <a:moveTo>
                  <a:pt x="8315325" y="0"/>
                </a:moveTo>
                <a:lnTo>
                  <a:pt x="9407271" y="0"/>
                </a:lnTo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2324100" y="1543050"/>
            <a:ext cx="7543800" cy="3829050"/>
          </a:xfrm>
          <a:custGeom>
            <a:avLst/>
            <a:gdLst/>
            <a:ahLst/>
            <a:cxnLst/>
            <a:rect l="l" t="t" r="r" b="b"/>
            <a:pathLst>
              <a:path w="7543800" h="3829050">
                <a:moveTo>
                  <a:pt x="0" y="3829050"/>
                </a:moveTo>
                <a:lnTo>
                  <a:pt x="7543800" y="3829050"/>
                </a:lnTo>
                <a:lnTo>
                  <a:pt x="7543800" y="0"/>
                </a:lnTo>
                <a:lnTo>
                  <a:pt x="0" y="0"/>
                </a:lnTo>
                <a:lnTo>
                  <a:pt x="0" y="3829050"/>
                </a:lnTo>
                <a:close/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143250"/>
            <a:ext cx="2457449" cy="61912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34550" y="3143250"/>
            <a:ext cx="2457450" cy="619125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609600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152775"/>
            <a:ext cx="761999" cy="6096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9525" y="3152775"/>
            <a:ext cx="752475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09599" y="609600"/>
            <a:ext cx="10972800" cy="5638800"/>
          </a:xfrm>
          <a:custGeom>
            <a:avLst/>
            <a:gdLst/>
            <a:ahLst/>
            <a:cxnLst/>
            <a:rect l="l" t="t" r="r" b="b"/>
            <a:pathLst>
              <a:path w="10972800" h="5638800">
                <a:moveTo>
                  <a:pt x="0" y="5638800"/>
                </a:moveTo>
                <a:lnTo>
                  <a:pt x="10972800" y="5638800"/>
                </a:lnTo>
                <a:lnTo>
                  <a:pt x="10972800" y="0"/>
                </a:lnTo>
                <a:lnTo>
                  <a:pt x="0" y="0"/>
                </a:lnTo>
                <a:lnTo>
                  <a:pt x="0" y="5638800"/>
                </a:lnTo>
                <a:close/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3152775"/>
            <a:ext cx="761999" cy="6096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439525" y="3152775"/>
            <a:ext cx="752475" cy="6096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7814" y="824230"/>
            <a:ext cx="8980170" cy="14614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52525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8535" y="2550677"/>
            <a:ext cx="5713730" cy="3434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8948"/>
            <a:ext cx="12192000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1535112"/>
            <a:ext cx="12192000" cy="3844925"/>
            <a:chOff x="0" y="1535112"/>
            <a:chExt cx="12192000" cy="3844925"/>
          </a:xfrm>
        </p:grpSpPr>
        <p:sp>
          <p:nvSpPr>
            <p:cNvPr id="4" name="object 4"/>
            <p:cNvSpPr/>
            <p:nvPr/>
          </p:nvSpPr>
          <p:spPr>
            <a:xfrm>
              <a:off x="2324099" y="1543050"/>
              <a:ext cx="7543800" cy="3829050"/>
            </a:xfrm>
            <a:custGeom>
              <a:avLst/>
              <a:gdLst/>
              <a:ahLst/>
              <a:cxnLst/>
              <a:rect l="l" t="t" r="r" b="b"/>
              <a:pathLst>
                <a:path w="7543800" h="3829050">
                  <a:moveTo>
                    <a:pt x="0" y="3829050"/>
                  </a:moveTo>
                  <a:lnTo>
                    <a:pt x="7543800" y="3829050"/>
                  </a:lnTo>
                  <a:lnTo>
                    <a:pt x="7543800" y="0"/>
                  </a:lnTo>
                  <a:lnTo>
                    <a:pt x="0" y="0"/>
                  </a:lnTo>
                  <a:lnTo>
                    <a:pt x="0" y="3829050"/>
                  </a:lnTo>
                  <a:close/>
                </a:path>
              </a:pathLst>
            </a:custGeom>
            <a:ln w="15875">
              <a:solidFill>
                <a:srgbClr val="8399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43250"/>
              <a:ext cx="2457449" cy="6191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34550" y="3143250"/>
              <a:ext cx="2457450" cy="6191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695574" y="3524250"/>
              <a:ext cx="6816090" cy="0"/>
            </a:xfrm>
            <a:custGeom>
              <a:avLst/>
              <a:gdLst/>
              <a:ahLst/>
              <a:cxnLst/>
              <a:rect l="l" t="t" r="r" b="b"/>
              <a:pathLst>
                <a:path w="6816090">
                  <a:moveTo>
                    <a:pt x="0" y="0"/>
                  </a:moveTo>
                  <a:lnTo>
                    <a:pt x="6815708" y="0"/>
                  </a:lnTo>
                </a:path>
              </a:pathLst>
            </a:custGeom>
            <a:ln w="15875">
              <a:solidFill>
                <a:srgbClr val="83992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34986" y="1526721"/>
            <a:ext cx="7532914" cy="186333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000" dirty="0" err="1"/>
              <a:t>Проект</a:t>
            </a:r>
            <a:r>
              <a:rPr sz="4000" spc="-250" dirty="0"/>
              <a:t> </a:t>
            </a:r>
            <a:r>
              <a:rPr lang="ru-RU" sz="4000" spc="-250" dirty="0"/>
              <a:t> </a:t>
            </a:r>
            <a:r>
              <a:rPr sz="4000" spc="-30" dirty="0"/>
              <a:t>"</a:t>
            </a:r>
            <a:r>
              <a:rPr lang="ru-RU" sz="4000" spc="-30" dirty="0"/>
              <a:t>Веб-сайт по обучению  школьников арифметике в интерактивной и игровой форме </a:t>
            </a:r>
            <a:r>
              <a:rPr sz="4000" spc="-10" dirty="0"/>
              <a:t>"</a:t>
            </a:r>
            <a:endParaRPr sz="4000" dirty="0"/>
          </a:p>
        </p:txBody>
      </p:sp>
      <p:sp>
        <p:nvSpPr>
          <p:cNvPr id="9" name="object 9"/>
          <p:cNvSpPr txBox="1"/>
          <p:nvPr/>
        </p:nvSpPr>
        <p:spPr>
          <a:xfrm>
            <a:off x="5562600" y="3483673"/>
            <a:ext cx="4174489" cy="13589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95"/>
              </a:spcBef>
            </a:pPr>
            <a:r>
              <a:rPr sz="2100" spc="-10" dirty="0" err="1">
                <a:latin typeface="Times New Roman"/>
                <a:cs typeface="Times New Roman"/>
              </a:rPr>
              <a:t>Выполнил</a:t>
            </a:r>
            <a:r>
              <a:rPr lang="ru-RU" sz="2100" spc="-10" dirty="0">
                <a:latin typeface="Times New Roman"/>
                <a:cs typeface="Times New Roman"/>
              </a:rPr>
              <a:t>и</a:t>
            </a:r>
            <a:r>
              <a:rPr sz="2100" spc="-10" dirty="0">
                <a:latin typeface="Times New Roman"/>
                <a:cs typeface="Times New Roman"/>
              </a:rPr>
              <a:t>: </a:t>
            </a:r>
            <a:endParaRPr lang="ru-RU" sz="2100" spc="-55" dirty="0">
              <a:latin typeface="Times New Roman"/>
              <a:cs typeface="Times New Roman"/>
            </a:endParaRPr>
          </a:p>
          <a:p>
            <a:pPr marL="12700" marR="5080">
              <a:lnSpc>
                <a:spcPct val="143100"/>
              </a:lnSpc>
              <a:spcBef>
                <a:spcPts val="95"/>
              </a:spcBef>
            </a:pPr>
            <a:r>
              <a:rPr lang="ru-RU" sz="2100" spc="-55" dirty="0">
                <a:latin typeface="Times New Roman"/>
                <a:cs typeface="Times New Roman"/>
              </a:rPr>
              <a:t>Сенькин Богдан,  </a:t>
            </a:r>
            <a:r>
              <a:rPr lang="ru-RU" sz="2100" spc="-55" dirty="0" err="1">
                <a:latin typeface="Times New Roman"/>
                <a:cs typeface="Times New Roman"/>
              </a:rPr>
              <a:t>Килеев</a:t>
            </a:r>
            <a:r>
              <a:rPr lang="ru-RU" sz="2100" spc="-55" dirty="0">
                <a:latin typeface="Times New Roman"/>
                <a:cs typeface="Times New Roman"/>
              </a:rPr>
              <a:t> Петр. Калантаевский Добрыня</a:t>
            </a:r>
            <a:endParaRPr sz="21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0174" y="2419350"/>
            <a:ext cx="9407525" cy="0"/>
          </a:xfrm>
          <a:custGeom>
            <a:avLst/>
            <a:gdLst/>
            <a:ahLst/>
            <a:cxnLst/>
            <a:rect l="l" t="t" r="r" b="b"/>
            <a:pathLst>
              <a:path w="9407525">
                <a:moveTo>
                  <a:pt x="0" y="0"/>
                </a:moveTo>
                <a:lnTo>
                  <a:pt x="9407271" y="0"/>
                </a:lnTo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40809" y="894143"/>
            <a:ext cx="432625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Описание</a:t>
            </a:r>
            <a:r>
              <a:rPr spc="-25" dirty="0"/>
              <a:t> </a:t>
            </a:r>
            <a:r>
              <a:rPr spc="-50" dirty="0"/>
              <a:t>проекта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7575" y="1598294"/>
            <a:ext cx="10043160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5"/>
              </a:spcBef>
              <a:buClr>
                <a:srgbClr val="83992A"/>
              </a:buClr>
              <a:buSzPct val="114583"/>
              <a:buFont typeface="Arial MT"/>
              <a:buChar char="•"/>
              <a:tabLst>
                <a:tab pos="298450" algn="l"/>
              </a:tabLst>
            </a:pPr>
            <a:r>
              <a:rPr lang="ru-RU"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Наш проект представляет из себя веб-сайт по обучению </a:t>
            </a:r>
            <a:r>
              <a:rPr lang="ru-RU" sz="2400" spc="-30" dirty="0" err="1">
                <a:solidFill>
                  <a:srgbClr val="252525"/>
                </a:solidFill>
                <a:latin typeface="Times New Roman"/>
                <a:cs typeface="Times New Roman"/>
              </a:rPr>
              <a:t>школьнпиков</a:t>
            </a:r>
            <a:r>
              <a:rPr lang="ru-RU" sz="2400" spc="-30" dirty="0">
                <a:solidFill>
                  <a:srgbClr val="252525"/>
                </a:solidFill>
                <a:latin typeface="Times New Roman"/>
                <a:cs typeface="Times New Roman"/>
              </a:rPr>
              <a:t> начальной школы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68539" y="3487356"/>
            <a:ext cx="2373630" cy="170713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45"/>
              </a:spcBef>
            </a:pPr>
            <a:r>
              <a:rPr sz="2750" dirty="0" err="1">
                <a:latin typeface="Times New Roman"/>
                <a:cs typeface="Times New Roman"/>
              </a:rPr>
              <a:t>Цель</a:t>
            </a:r>
            <a:r>
              <a:rPr sz="2750" spc="45" dirty="0">
                <a:latin typeface="Times New Roman"/>
                <a:cs typeface="Times New Roman"/>
              </a:rPr>
              <a:t> </a:t>
            </a:r>
            <a:r>
              <a:rPr lang="ru-RU" sz="2750" spc="-20" dirty="0">
                <a:latin typeface="Times New Roman"/>
                <a:cs typeface="Times New Roman"/>
              </a:rPr>
              <a:t>сайта</a:t>
            </a:r>
            <a:r>
              <a:rPr lang="en-US" sz="2750" spc="-20" dirty="0">
                <a:latin typeface="Times New Roman"/>
                <a:cs typeface="Times New Roman"/>
              </a:rPr>
              <a:t>:</a:t>
            </a:r>
          </a:p>
          <a:p>
            <a:pPr marL="12700" marR="5080">
              <a:lnSpc>
                <a:spcPct val="102400"/>
              </a:lnSpc>
              <a:spcBef>
                <a:spcPts val="45"/>
              </a:spcBef>
            </a:pPr>
            <a:r>
              <a:rPr lang="ru-RU" sz="2750" spc="-20" dirty="0">
                <a:latin typeface="Times New Roman"/>
                <a:cs typeface="Times New Roman"/>
              </a:rPr>
              <a:t>Обучить школьника арифметике.</a:t>
            </a:r>
            <a:endParaRPr sz="275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9787" y="2687637"/>
            <a:ext cx="6111875" cy="3673475"/>
            <a:chOff x="839787" y="2687637"/>
            <a:chExt cx="6111875" cy="3673475"/>
          </a:xfrm>
        </p:grpSpPr>
        <p:sp>
          <p:nvSpPr>
            <p:cNvPr id="7" name="object 7"/>
            <p:cNvSpPr/>
            <p:nvPr/>
          </p:nvSpPr>
          <p:spPr>
            <a:xfrm>
              <a:off x="847725" y="2695575"/>
              <a:ext cx="6096000" cy="3657600"/>
            </a:xfrm>
            <a:custGeom>
              <a:avLst/>
              <a:gdLst/>
              <a:ahLst/>
              <a:cxnLst/>
              <a:rect l="l" t="t" r="r" b="b"/>
              <a:pathLst>
                <a:path w="6096000" h="3657600">
                  <a:moveTo>
                    <a:pt x="6096000" y="0"/>
                  </a:moveTo>
                  <a:lnTo>
                    <a:pt x="0" y="0"/>
                  </a:lnTo>
                  <a:lnTo>
                    <a:pt x="0" y="3657600"/>
                  </a:lnTo>
                  <a:lnTo>
                    <a:pt x="6096000" y="3657600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8399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47725" y="2695575"/>
              <a:ext cx="6096000" cy="3657600"/>
            </a:xfrm>
            <a:custGeom>
              <a:avLst/>
              <a:gdLst/>
              <a:ahLst/>
              <a:cxnLst/>
              <a:rect l="l" t="t" r="r" b="b"/>
              <a:pathLst>
                <a:path w="6096000" h="3657600">
                  <a:moveTo>
                    <a:pt x="0" y="3657600"/>
                  </a:moveTo>
                  <a:lnTo>
                    <a:pt x="6096000" y="3657600"/>
                  </a:lnTo>
                  <a:lnTo>
                    <a:pt x="6096000" y="0"/>
                  </a:lnTo>
                  <a:lnTo>
                    <a:pt x="0" y="0"/>
                  </a:lnTo>
                  <a:lnTo>
                    <a:pt x="0" y="3657600"/>
                  </a:lnTo>
                  <a:close/>
                </a:path>
              </a:pathLst>
            </a:custGeom>
            <a:ln w="158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1084707" y="2791523"/>
            <a:ext cx="6321425" cy="3246402"/>
          </a:xfrm>
          <a:prstGeom prst="rect">
            <a:avLst/>
          </a:prstGeom>
        </p:spPr>
        <p:txBody>
          <a:bodyPr vert="horz" wrap="square" lIns="0" tIns="174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lang="ru-RU" sz="3200" spc="-10" dirty="0"/>
              <a:t>Цель пользователя(школьника)</a:t>
            </a:r>
            <a:r>
              <a:rPr lang="en-US" sz="3200" spc="-10" dirty="0"/>
              <a:t>:</a:t>
            </a:r>
            <a:endParaRPr lang="ru-RU" sz="3200" spc="-10" dirty="0"/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r>
              <a:rPr lang="ru-RU" sz="3200" spc="-10" dirty="0"/>
              <a:t>Получить максимум очков за выполнение всех заданий.</a:t>
            </a:r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endParaRPr lang="en-US" sz="3200" spc="-10" dirty="0"/>
          </a:p>
          <a:p>
            <a:pPr marL="12700">
              <a:lnSpc>
                <a:spcPct val="100000"/>
              </a:lnSpc>
              <a:spcBef>
                <a:spcPts val="1375"/>
              </a:spcBef>
            </a:pPr>
            <a:endParaRPr lang="ru-RU"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00174" y="2419350"/>
            <a:ext cx="9407525" cy="0"/>
          </a:xfrm>
          <a:custGeom>
            <a:avLst/>
            <a:gdLst/>
            <a:ahLst/>
            <a:cxnLst/>
            <a:rect l="l" t="t" r="r" b="b"/>
            <a:pathLst>
              <a:path w="9407525">
                <a:moveTo>
                  <a:pt x="0" y="0"/>
                </a:moveTo>
                <a:lnTo>
                  <a:pt x="9407271" y="0"/>
                </a:lnTo>
              </a:path>
            </a:pathLst>
          </a:custGeom>
          <a:ln w="15875">
            <a:solidFill>
              <a:srgbClr val="83992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2693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Технологии</a:t>
            </a:r>
            <a:r>
              <a:rPr sz="3950" spc="-50" dirty="0"/>
              <a:t> </a:t>
            </a:r>
            <a:r>
              <a:rPr sz="3950" dirty="0"/>
              <a:t>и</a:t>
            </a:r>
            <a:r>
              <a:rPr sz="3950" spc="-110" dirty="0"/>
              <a:t> </a:t>
            </a:r>
            <a:r>
              <a:rPr sz="3950" spc="-60" dirty="0"/>
              <a:t>используемые</a:t>
            </a:r>
            <a:r>
              <a:rPr sz="3950" spc="-70" dirty="0"/>
              <a:t> </a:t>
            </a:r>
            <a:r>
              <a:rPr sz="3950" spc="-50" dirty="0"/>
              <a:t>инструменты</a:t>
            </a:r>
            <a:endParaRPr sz="3950" dirty="0"/>
          </a:p>
        </p:txBody>
      </p:sp>
      <p:sp>
        <p:nvSpPr>
          <p:cNvPr id="4" name="object 4"/>
          <p:cNvSpPr txBox="1"/>
          <p:nvPr/>
        </p:nvSpPr>
        <p:spPr>
          <a:xfrm>
            <a:off x="1567814" y="2553019"/>
            <a:ext cx="6737986" cy="3680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Библиотеки</a:t>
            </a:r>
            <a:endParaRPr sz="2400" dirty="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2430"/>
              </a:spcBef>
              <a:buClr>
                <a:srgbClr val="83992A"/>
              </a:buClr>
              <a:buSzPct val="114583"/>
              <a:buFont typeface="Arial MT"/>
              <a:buChar char="•"/>
              <a:tabLst>
                <a:tab pos="298450" algn="l"/>
              </a:tabLst>
            </a:pPr>
            <a:r>
              <a:rPr lang="en-US" sz="2400" spc="-45" dirty="0">
                <a:solidFill>
                  <a:srgbClr val="252525"/>
                </a:solidFill>
                <a:latin typeface="Times New Roman"/>
                <a:cs typeface="Times New Roman"/>
              </a:rPr>
              <a:t>Flask</a:t>
            </a:r>
            <a:r>
              <a:rPr sz="2400" spc="-9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252525"/>
                </a:solidFill>
                <a:latin typeface="Times New Roman"/>
                <a:cs typeface="Times New Roman"/>
              </a:rPr>
              <a:t>–</a:t>
            </a:r>
            <a:r>
              <a:rPr sz="2400" spc="-3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2400" spc="-80" dirty="0">
                <a:solidFill>
                  <a:srgbClr val="252525"/>
                </a:solidFill>
                <a:latin typeface="Times New Roman"/>
                <a:cs typeface="Times New Roman"/>
              </a:rPr>
              <a:t>фреймворк для создания веб-сайта</a:t>
            </a:r>
            <a:endParaRPr sz="2400" dirty="0">
              <a:latin typeface="Times New Roman"/>
              <a:cs typeface="Times New Roman"/>
            </a:endParaRPr>
          </a:p>
          <a:p>
            <a:pPr marL="298450" indent="-285750">
              <a:lnSpc>
                <a:spcPts val="2865"/>
              </a:lnSpc>
              <a:spcBef>
                <a:spcPts val="1250"/>
              </a:spcBef>
              <a:buClr>
                <a:srgbClr val="83992A"/>
              </a:buClr>
              <a:buSzPct val="114583"/>
              <a:buFont typeface="Arial MT"/>
              <a:buChar char="•"/>
              <a:tabLst>
                <a:tab pos="298450" algn="l"/>
              </a:tabLst>
            </a:pPr>
            <a:r>
              <a:rPr lang="en-US" sz="2400" spc="-10" dirty="0" err="1">
                <a:solidFill>
                  <a:srgbClr val="252525"/>
                </a:solidFill>
                <a:latin typeface="Times New Roman"/>
                <a:cs typeface="Times New Roman"/>
              </a:rPr>
              <a:t>Sqlite</a:t>
            </a:r>
            <a:r>
              <a:rPr sz="2400" spc="-1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2400" dirty="0">
                <a:solidFill>
                  <a:srgbClr val="252525"/>
                </a:solidFill>
                <a:latin typeface="Times New Roman"/>
                <a:cs typeface="Times New Roman"/>
              </a:rPr>
              <a:t>–</a:t>
            </a:r>
            <a:r>
              <a:rPr sz="2400" spc="-8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ru-RU" sz="2400" spc="-85" dirty="0">
                <a:solidFill>
                  <a:srgbClr val="252525"/>
                </a:solidFill>
                <a:latin typeface="Times New Roman"/>
                <a:cs typeface="Times New Roman"/>
              </a:rPr>
              <a:t>создание баз данных</a:t>
            </a:r>
            <a:endParaRPr sz="2400" dirty="0">
              <a:latin typeface="Times New Roman"/>
              <a:cs typeface="Times New Roman"/>
            </a:endParaRPr>
          </a:p>
          <a:p>
            <a:pPr marL="298450" indent="-285750">
              <a:lnSpc>
                <a:spcPts val="2865"/>
              </a:lnSpc>
              <a:spcBef>
                <a:spcPts val="1180"/>
              </a:spcBef>
              <a:buClr>
                <a:srgbClr val="83992A"/>
              </a:buClr>
              <a:buSzPct val="114583"/>
              <a:buFont typeface="Arial MT"/>
              <a:buChar char="•"/>
              <a:tabLst>
                <a:tab pos="298450" algn="l"/>
              </a:tabLst>
            </a:pP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random – </a:t>
            </a:r>
            <a:r>
              <a:rPr lang="ru-RU" sz="2400" dirty="0">
                <a:solidFill>
                  <a:srgbClr val="252525"/>
                </a:solidFill>
                <a:latin typeface="Times New Roman"/>
                <a:cs typeface="Times New Roman"/>
              </a:rPr>
              <a:t>создание вариантов примеров</a:t>
            </a:r>
            <a:endParaRPr lang="en-US" sz="24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98450" indent="-285750">
              <a:lnSpc>
                <a:spcPts val="2865"/>
              </a:lnSpc>
              <a:spcBef>
                <a:spcPts val="1180"/>
              </a:spcBef>
              <a:buClr>
                <a:srgbClr val="83992A"/>
              </a:buClr>
              <a:buSzPct val="114583"/>
              <a:buFont typeface="Arial MT"/>
              <a:buChar char="•"/>
              <a:tabLst>
                <a:tab pos="298450" algn="l"/>
              </a:tabLst>
            </a:pPr>
            <a:r>
              <a:rPr lang="en-US" sz="2400" dirty="0" err="1">
                <a:solidFill>
                  <a:srgbClr val="252525"/>
                </a:solidFill>
                <a:latin typeface="Times New Roman"/>
                <a:cs typeface="Times New Roman"/>
              </a:rPr>
              <a:t>Passlib</a:t>
            </a: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 – </a:t>
            </a:r>
            <a:r>
              <a:rPr lang="ru-RU" sz="2400" dirty="0">
                <a:solidFill>
                  <a:srgbClr val="252525"/>
                </a:solidFill>
                <a:latin typeface="Times New Roman"/>
                <a:cs typeface="Times New Roman"/>
              </a:rPr>
              <a:t>защита паролей </a:t>
            </a:r>
          </a:p>
          <a:p>
            <a:pPr marL="298450" indent="-285750">
              <a:lnSpc>
                <a:spcPts val="2865"/>
              </a:lnSpc>
              <a:spcBef>
                <a:spcPts val="1180"/>
              </a:spcBef>
              <a:buClr>
                <a:srgbClr val="83992A"/>
              </a:buClr>
              <a:buSzPct val="114583"/>
              <a:buFont typeface="Arial MT"/>
              <a:buChar char="•"/>
              <a:tabLst>
                <a:tab pos="298450" algn="l"/>
              </a:tabLst>
            </a:pPr>
            <a:r>
              <a:rPr lang="en-US" sz="2400" dirty="0">
                <a:solidFill>
                  <a:srgbClr val="252525"/>
                </a:solidFill>
                <a:latin typeface="Times New Roman"/>
                <a:cs typeface="Times New Roman"/>
              </a:rPr>
              <a:t>Html – </a:t>
            </a:r>
            <a:r>
              <a:rPr lang="ru-RU" sz="2400" dirty="0">
                <a:solidFill>
                  <a:srgbClr val="252525"/>
                </a:solidFill>
                <a:latin typeface="Times New Roman"/>
                <a:cs typeface="Times New Roman"/>
              </a:rPr>
              <a:t>интерфейс сайта</a:t>
            </a:r>
          </a:p>
          <a:p>
            <a:pPr marL="298450" indent="-285750">
              <a:lnSpc>
                <a:spcPts val="2865"/>
              </a:lnSpc>
              <a:spcBef>
                <a:spcPts val="1180"/>
              </a:spcBef>
              <a:buClr>
                <a:srgbClr val="83992A"/>
              </a:buClr>
              <a:buSzPct val="114583"/>
              <a:buFont typeface="Arial MT"/>
              <a:buChar char="•"/>
              <a:tabLst>
                <a:tab pos="298450" algn="l"/>
              </a:tabLst>
            </a:pPr>
            <a:endParaRPr lang="ru-RU" sz="2400" dirty="0">
              <a:solidFill>
                <a:srgbClr val="252525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148858" y="812223"/>
            <a:ext cx="5858237" cy="652102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252095" marR="5080" indent="-240029">
              <a:lnSpc>
                <a:spcPts val="4430"/>
              </a:lnSpc>
              <a:spcBef>
                <a:spcPts val="685"/>
              </a:spcBef>
            </a:pPr>
            <a:r>
              <a:rPr sz="4100" spc="-150" dirty="0" err="1"/>
              <a:t>Структура</a:t>
            </a:r>
            <a:r>
              <a:rPr sz="4100" spc="-150" dirty="0"/>
              <a:t> </a:t>
            </a:r>
            <a:r>
              <a:rPr sz="4100" spc="-10" dirty="0" err="1"/>
              <a:t>проекта</a:t>
            </a:r>
            <a:r>
              <a:rPr lang="ru-RU" sz="4100" spc="-10" dirty="0"/>
              <a:t>.</a:t>
            </a:r>
            <a:endParaRPr sz="4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359ABB-BA39-4403-A38A-B91426B3C3AC}"/>
              </a:ext>
            </a:extLst>
          </p:cNvPr>
          <p:cNvSpPr txBox="1"/>
          <p:nvPr/>
        </p:nvSpPr>
        <p:spPr>
          <a:xfrm>
            <a:off x="5029200" y="2209800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</a:t>
            </a:r>
            <a:r>
              <a:rPr lang="en-US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файлы </a:t>
            </a:r>
            <a:r>
              <a:rPr lang="en-US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хранятся на </a:t>
            </a:r>
            <a:r>
              <a:rPr lang="en-US" sz="2400" spc="-1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1800" spc="-10" dirty="0"/>
              <a:t>.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D9ADB6-25F9-42A0-8EC2-4151B3BC17D4}"/>
              </a:ext>
            </a:extLst>
          </p:cNvPr>
          <p:cNvSpPr txBox="1"/>
          <p:nvPr/>
        </p:nvSpPr>
        <p:spPr>
          <a:xfrm>
            <a:off x="5029200" y="3733800"/>
            <a:ext cx="60975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файл – </a:t>
            </a:r>
            <a:r>
              <a:rPr lang="en-US"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app_final.py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EC7CD2-964D-4191-9D09-3B10559043F9}"/>
              </a:ext>
            </a:extLst>
          </p:cNvPr>
          <p:cNvSpPr txBox="1"/>
          <p:nvPr/>
        </p:nvSpPr>
        <p:spPr>
          <a:xfrm>
            <a:off x="3048778" y="3244334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268777C-C34A-40B4-92E0-1CE77AE1D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990600"/>
            <a:ext cx="3976395" cy="5047401"/>
          </a:xfrm>
          <a:prstGeom prst="rect">
            <a:avLst/>
          </a:prstGeom>
        </p:spPr>
      </p:pic>
      <p:sp>
        <p:nvSpPr>
          <p:cNvPr id="26" name="AutoShape 6">
            <a:extLst>
              <a:ext uri="{FF2B5EF4-FFF2-40B4-BE49-F238E27FC236}">
                <a16:creationId xmlns:a16="http://schemas.microsoft.com/office/drawing/2014/main" id="{5B39EBEF-73F3-4DD5-A133-42C546461E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7200" y="990600"/>
            <a:ext cx="7385685" cy="1114150"/>
          </a:xfrm>
          <a:prstGeom prst="rect">
            <a:avLst/>
          </a:prstGeom>
        </p:spPr>
        <p:txBody>
          <a:bodyPr vert="horz" wrap="square" lIns="0" tIns="432815" rIns="0" bIns="0" rtlCol="0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effectLst/>
                <a:latin typeface="quote-cjk-patch"/>
              </a:rPr>
              <a:t>Система аутентификации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52FD96F-9FD8-454B-9D89-EEF940871C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99438"/>
            <a:ext cx="3295311" cy="54591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B9C281-E322-45DE-8824-B1FD65409735}"/>
              </a:ext>
            </a:extLst>
          </p:cNvPr>
          <p:cNvSpPr txBox="1"/>
          <p:nvPr/>
        </p:nvSpPr>
        <p:spPr>
          <a:xfrm>
            <a:off x="5105400" y="3276600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Логика такова</a:t>
            </a:r>
            <a:r>
              <a:rPr lang="en-US" dirty="0"/>
              <a:t>:</a:t>
            </a:r>
          </a:p>
          <a:p>
            <a:r>
              <a:rPr lang="ru-RU" dirty="0"/>
              <a:t>Если нету аккаунта, то ты регистрируешь аккаунт, используя логин и пароль, данные сохраняются в базу данных</a:t>
            </a:r>
          </a:p>
          <a:p>
            <a:r>
              <a:rPr lang="ru-RU" dirty="0"/>
              <a:t>Если аккаунт есть, то ты вводишь данные и переходишь к решению задач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CC29D2C-D5F3-44C1-BF67-6C6ECDF63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912" y="1394400"/>
            <a:ext cx="9782175" cy="47529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F95C43-3BA6-4DD6-AA5A-6B36089206CA}"/>
              </a:ext>
            </a:extLst>
          </p:cNvPr>
          <p:cNvSpPr txBox="1"/>
          <p:nvPr/>
        </p:nvSpPr>
        <p:spPr>
          <a:xfrm>
            <a:off x="2667000" y="710625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Экран входа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769F78C-11DC-4D66-A1CA-D57E092FE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81" y="2525762"/>
            <a:ext cx="7912396" cy="3581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C78301-BBC8-4414-BDB4-E67E36A88AA2}"/>
              </a:ext>
            </a:extLst>
          </p:cNvPr>
          <p:cNvSpPr txBox="1"/>
          <p:nvPr/>
        </p:nvSpPr>
        <p:spPr>
          <a:xfrm>
            <a:off x="304800" y="990600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104C0-F6E2-4245-BF5D-56BB83E306B2}"/>
              </a:ext>
            </a:extLst>
          </p:cNvPr>
          <p:cNvSpPr txBox="1"/>
          <p:nvPr/>
        </p:nvSpPr>
        <p:spPr>
          <a:xfrm>
            <a:off x="5943600" y="750838"/>
            <a:ext cx="6097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подобранны для 3 групп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2" indent="-342900" algn="l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- 2  класс - 5 простеньких примеров</a:t>
            </a:r>
          </a:p>
          <a:p>
            <a:pPr marL="342900" lvl="2" indent="-342900" algn="l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класс  - 3 средних по сложности примеров + 2 уравнения</a:t>
            </a:r>
          </a:p>
          <a:p>
            <a:pPr marL="342900" lvl="2" indent="-342900" algn="l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класс - 1 система уравнений -2 сложных примера</a:t>
            </a:r>
          </a:p>
          <a:p>
            <a:pPr algn="l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9806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D515BF-8925-4EE8-AF0C-3ECF6DD85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068" y="949626"/>
            <a:ext cx="10439864" cy="495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13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452C90-E56E-4F88-AE9C-4FE9BF9DFA00}"/>
              </a:ext>
            </a:extLst>
          </p:cNvPr>
          <p:cNvSpPr txBox="1"/>
          <p:nvPr/>
        </p:nvSpPr>
        <p:spPr>
          <a:xfrm>
            <a:off x="2895600" y="558268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B0C1DD-5B14-4DCC-950F-38977B1789ED}"/>
              </a:ext>
            </a:extLst>
          </p:cNvPr>
          <p:cNvSpPr txBox="1"/>
          <p:nvPr/>
        </p:nvSpPr>
        <p:spPr>
          <a:xfrm>
            <a:off x="957943" y="974342"/>
            <a:ext cx="426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Примерная таблица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93632F18-BB30-4E08-B1F3-05A001E26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10599"/>
              </p:ext>
            </p:extLst>
          </p:nvPr>
        </p:nvGraphicFramePr>
        <p:xfrm>
          <a:off x="957943" y="1512265"/>
          <a:ext cx="5410200" cy="2585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400">
                  <a:extLst>
                    <a:ext uri="{9D8B030D-6E8A-4147-A177-3AD203B41FA5}">
                      <a16:colId xmlns:a16="http://schemas.microsoft.com/office/drawing/2014/main" val="3550992374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1145159617"/>
                    </a:ext>
                  </a:extLst>
                </a:gridCol>
                <a:gridCol w="1803400">
                  <a:extLst>
                    <a:ext uri="{9D8B030D-6E8A-4147-A177-3AD203B41FA5}">
                      <a16:colId xmlns:a16="http://schemas.microsoft.com/office/drawing/2014/main" val="1620556045"/>
                    </a:ext>
                  </a:extLst>
                </a:gridCol>
              </a:tblGrid>
              <a:tr h="435222">
                <a:tc>
                  <a:txBody>
                    <a:bodyPr/>
                    <a:lstStyle/>
                    <a:p>
                      <a:r>
                        <a:rPr lang="ru-RU" dirty="0"/>
                        <a:t>Колонка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Тип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Описаник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566357"/>
                  </a:ext>
                </a:extLst>
              </a:tr>
              <a:tr h="435222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Идентификатор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039780"/>
                  </a:ext>
                </a:extLst>
              </a:tr>
              <a:tr h="435222"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Текст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Логин пользователя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666094"/>
                  </a:ext>
                </a:extLst>
              </a:tr>
              <a:tr h="435222">
                <a:tc>
                  <a:txBody>
                    <a:bodyPr/>
                    <a:lstStyle/>
                    <a:p>
                      <a:r>
                        <a:rPr lang="ru-RU" dirty="0"/>
                        <a:t>Р</a:t>
                      </a:r>
                      <a:r>
                        <a:rPr lang="en-US" dirty="0" err="1"/>
                        <a:t>assword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Текст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Пароль пользователя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833268"/>
                  </a:ext>
                </a:extLst>
              </a:tr>
              <a:tr h="435222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r>
                        <a:rPr lang="ru-RU" dirty="0"/>
                        <a:t>_</a:t>
                      </a:r>
                      <a:r>
                        <a:rPr lang="en-US" dirty="0"/>
                        <a:t>number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Число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Класс обучения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360329"/>
                  </a:ext>
                </a:extLst>
              </a:tr>
            </a:tbl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9EC5FAA-88C0-429B-957B-C1C7F9417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4191000"/>
            <a:ext cx="6400800" cy="19600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4D35A4-23FD-460A-A3DE-E76811EB92B5}"/>
              </a:ext>
            </a:extLst>
          </p:cNvPr>
          <p:cNvSpPr txBox="1"/>
          <p:nvPr/>
        </p:nvSpPr>
        <p:spPr>
          <a:xfrm>
            <a:off x="5486400" y="372409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Вызов таблицы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88568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5AF974-4F8E-4628-B2D5-C28394ACB42F}"/>
              </a:ext>
            </a:extLst>
          </p:cNvPr>
          <p:cNvSpPr txBox="1"/>
          <p:nvPr/>
        </p:nvSpPr>
        <p:spPr>
          <a:xfrm>
            <a:off x="2667000" y="990600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B6A4C1-6B61-49CD-B972-109821C7BF2F}"/>
              </a:ext>
            </a:extLst>
          </p:cNvPr>
          <p:cNvSpPr txBox="1"/>
          <p:nvPr/>
        </p:nvSpPr>
        <p:spPr>
          <a:xfrm>
            <a:off x="1066800" y="1981200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итоговом экране будут показаны процент  выполнения, количество правильных ответов, а также количество баллов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A2767-95E2-4AAF-9811-FDF5E7DDFD12}"/>
              </a:ext>
            </a:extLst>
          </p:cNvPr>
          <p:cNvSpPr txBox="1"/>
          <p:nvPr/>
        </p:nvSpPr>
        <p:spPr>
          <a:xfrm>
            <a:off x="3047223" y="324433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Также ученик сможет посмотреть правильный ответ, если ученик ошибся</a:t>
            </a:r>
          </a:p>
        </p:txBody>
      </p:sp>
    </p:spTree>
    <p:extLst>
      <p:ext uri="{BB962C8B-B14F-4D97-AF65-F5344CB8AC3E}">
        <p14:creationId xmlns:p14="http://schemas.microsoft.com/office/powerpoint/2010/main" val="423815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07D353-F32D-4D2C-9781-7313ED1CEB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143000"/>
            <a:ext cx="10363200" cy="477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12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2815" rIns="0" bIns="0" rtlCol="0">
            <a:spAutoFit/>
          </a:bodyPr>
          <a:lstStyle/>
          <a:p>
            <a:pPr marL="1868170">
              <a:lnSpc>
                <a:spcPct val="100000"/>
              </a:lnSpc>
              <a:spcBef>
                <a:spcPts val="130"/>
              </a:spcBef>
            </a:pPr>
            <a:r>
              <a:rPr spc="-25" dirty="0"/>
              <a:t>Спасибо</a:t>
            </a:r>
            <a:r>
              <a:rPr spc="-200" dirty="0"/>
              <a:t> </a:t>
            </a:r>
            <a:r>
              <a:rPr dirty="0"/>
              <a:t>за</a:t>
            </a:r>
            <a:r>
              <a:rPr spc="-250" dirty="0"/>
              <a:t> </a:t>
            </a:r>
            <a:r>
              <a:rPr spc="-170" dirty="0"/>
              <a:t>внимание!!!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240</Words>
  <Application>Microsoft Office PowerPoint</Application>
  <PresentationFormat>Широкоэкранный</PresentationFormat>
  <Paragraphs>52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Arial MT</vt:lpstr>
      <vt:lpstr>Calibri</vt:lpstr>
      <vt:lpstr>quote-cjk-patch</vt:lpstr>
      <vt:lpstr>Times New Roman</vt:lpstr>
      <vt:lpstr>Trebuchet MS</vt:lpstr>
      <vt:lpstr>Office Theme</vt:lpstr>
      <vt:lpstr>Проект  "Веб-сайт по обучению  школьников арифметике в интерактивной и игровой форме "</vt:lpstr>
      <vt:lpstr>Описание проекта</vt:lpstr>
      <vt:lpstr>Технологии и используемые инструменты</vt:lpstr>
      <vt:lpstr>Структура проекта.</vt:lpstr>
      <vt:lpstr>Система аутентификации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"Веб-сайт по обучению  школьников арифметике в интерактивной и игровой форме  "</dc:title>
  <cp:lastModifiedBy>Добрыня Калантаевский</cp:lastModifiedBy>
  <cp:revision>17</cp:revision>
  <dcterms:created xsi:type="dcterms:W3CDTF">2026-03-10T13:25:35Z</dcterms:created>
  <dcterms:modified xsi:type="dcterms:W3CDTF">2026-05-14T19:26:25Z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2026-03-10T00:00:00Z</vt:filetime>
  </property>
  <property fmtid="{D5CDD505-2E9C-101B-9397-08002B2CF9AE}" pid="3" name="LastSaved">
    <vt:filetime>2026-03-10T00:00:00Z</vt:filetime>
  </property>
</Properties>
</file>